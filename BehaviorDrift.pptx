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5" r:id="rId7"/>
    <p:sldId id="264" r:id="rId8"/>
    <p:sldId id="262" r:id="rId9"/>
    <p:sldId id="263" r:id="rId10"/>
    <p:sldId id="266" r:id="rId11"/>
    <p:sldId id="26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6E25"/>
    <a:srgbClr val="689947"/>
    <a:srgbClr val="6C3C8B"/>
    <a:srgbClr val="977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57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137290" y="1097280"/>
            <a:ext cx="3052300" cy="64008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286000" y="1097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Bit2Bit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87600" y="1920240"/>
            <a:ext cx="4470400" cy="41148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920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Institute of Technology, Bengaluru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3403" y="2596721"/>
            <a:ext cx="4003040" cy="2110226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14600"/>
            <a:ext cx="4003040" cy="314274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14600"/>
            <a:ext cx="400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PARTICIPANTS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Numan 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 Khan (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Backend-AI/ML)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Shweta Kumari (Frontend)</a:t>
            </a:r>
            <a:endParaRPr lang="en-US" sz="1300" dirty="0"/>
          </a:p>
          <a:p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Majushree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(Frontend)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Gowda G M  (UI/UX)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88987" y="2704586"/>
            <a:ext cx="4003041" cy="2002361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86631" y="2508835"/>
            <a:ext cx="4003040" cy="32004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FACULTY PARTICIPANTS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56071"/>
            <a:ext cx="3749040" cy="1711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Girija J (Backend Dev)  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Thanuja T (Frontend  Dev)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-91440" y="3794760"/>
            <a:ext cx="9144000" cy="1895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1D129BA-68DE-4C6E-8634-45C7F0DC9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970" y="-29967"/>
            <a:ext cx="3052300" cy="1038689"/>
          </a:xfrm>
          <a:prstGeom prst="rect">
            <a:avLst/>
          </a:prstGeom>
        </p:spPr>
      </p:pic>
      <p:sp>
        <p:nvSpPr>
          <p:cNvPr id="21" name="Shape 0">
            <a:extLst>
              <a:ext uri="{FF2B5EF4-FFF2-40B4-BE49-F238E27FC236}">
                <a16:creationId xmlns:a16="http://schemas.microsoft.com/office/drawing/2014/main" id="{6843E0C4-49AC-490A-8E67-AA073618E13D}"/>
              </a:ext>
            </a:extLst>
          </p:cNvPr>
          <p:cNvSpPr/>
          <p:nvPr/>
        </p:nvSpPr>
        <p:spPr>
          <a:xfrm>
            <a:off x="-163286" y="-568617"/>
            <a:ext cx="9448800" cy="59436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2A95BBC7-F6EF-4DE0-B5D1-3AD733696572}"/>
              </a:ext>
            </a:extLst>
          </p:cNvPr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E4F37-9386-4FF6-B736-8BCE8A89D44D}"/>
              </a:ext>
            </a:extLst>
          </p:cNvPr>
          <p:cNvSpPr txBox="1"/>
          <p:nvPr/>
        </p:nvSpPr>
        <p:spPr>
          <a:xfrm>
            <a:off x="3954780" y="4937760"/>
            <a:ext cx="2983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eMudhra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98"/>
            <a:ext cx="9144000" cy="684802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1" y="91440"/>
            <a:ext cx="482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862009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862009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62009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Problem?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1" y="2458692"/>
            <a:ext cx="2560320" cy="10276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tools analyze isolated events, not how an entity's behavior evolves over time , so meaningful shifts go undetected until damage is already done.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7550" y="1862009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7550" y="1862009"/>
            <a:ext cx="2743200" cy="45720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7550" y="1862009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Root Cause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48990" y="2412090"/>
            <a:ext cx="2560320" cy="1176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activity (commits, contributors, dependencies) is rarely modeled as a continuously evolving identity, so teams lack tools to detect meaningful drift over time , only point-in-time anomalies.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0780" y="1862009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0780" y="1862009"/>
            <a:ext cx="2743200" cy="45720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0780" y="1862009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Why Important?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32220" y="2412090"/>
            <a:ext cx="2560320" cy="1128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DevSecOps &amp; engineering teams depend on early, explainable signals of risk in the open-source software they build and depend on.</a:t>
            </a:r>
            <a:endParaRPr lang="en-US" sz="12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14AD2AA0-361F-4437-AD49-8114E08153FC}"/>
              </a:ext>
            </a:extLst>
          </p:cNvPr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18" name="Rectangle 17"/>
          <p:cNvSpPr/>
          <p:nvPr/>
        </p:nvSpPr>
        <p:spPr>
          <a:xfrm>
            <a:off x="2434590" y="4922928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6477"/>
            <a:ext cx="48920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3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-Universal Behavioral Drift Intelligence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C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4846320" cy="365760"/>
          </a:xfrm>
          <a:prstGeom prst="rect">
            <a:avLst/>
          </a:prstGeom>
          <a:solidFill>
            <a:srgbClr val="6C3C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3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learns an entity's historical behavioral identity from sequential data and continuously monitors for behavioral drift. The MVP demonstrates this on GitHub repositories, analyzing weekly activity to generate explainable, evidence-backed drift reports.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4846320" cy="411480"/>
          </a:xfrm>
          <a:prstGeom prst="rect">
            <a:avLst/>
          </a:prstGeom>
          <a:solidFill>
            <a:srgbClr val="6C3C8B"/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C3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GitHub activity into weekly behavioral feature vectors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C3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behavior against learned historical identity to flag drift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C3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flagged drift using statistical evidence + commit 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188720"/>
            <a:ext cx="3200400" cy="1005840"/>
          </a:xfrm>
          <a:prstGeom prst="rect">
            <a:avLst/>
          </a:prstGeom>
          <a:solidFill>
            <a:srgbClr val="6C3C8B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188720"/>
            <a:ext cx="73152" cy="100584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6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Behavior-First</a:t>
            </a:r>
            <a:endParaRPr lang="en-US" sz="1300" dirty="0">
              <a:solidFill>
                <a:srgbClr val="EA6E25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 characterization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377440"/>
            <a:ext cx="3200400" cy="1005840"/>
          </a:xfrm>
          <a:prstGeom prst="rect">
            <a:avLst/>
          </a:prstGeom>
          <a:solidFill>
            <a:srgbClr val="6C3C8B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377440"/>
            <a:ext cx="73152" cy="100584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6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Memory-Driven</a:t>
            </a:r>
            <a:endParaRPr lang="en-US" sz="1300" dirty="0">
              <a:solidFill>
                <a:srgbClr val="EA6E25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1500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stores behavioral fingerprints for historical drift comparison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566160"/>
            <a:ext cx="3200400" cy="1005840"/>
          </a:xfrm>
          <a:prstGeom prst="rect">
            <a:avLst/>
          </a:prstGeom>
          <a:solidFill>
            <a:srgbClr val="6C3C8B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3566160"/>
            <a:ext cx="73152" cy="100584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611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6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Anomaly-scored, human-readable risk reports via AI agents</a:t>
            </a:r>
            <a:endParaRPr lang="en-US" sz="11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7CAE8B07-F8CB-45BB-AE0C-74CBA4644721}"/>
              </a:ext>
            </a:extLst>
          </p:cNvPr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22" name="Rectangle 21"/>
          <p:cNvSpPr/>
          <p:nvPr/>
        </p:nvSpPr>
        <p:spPr>
          <a:xfrm>
            <a:off x="2286000" y="4915010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8667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Workflow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560320" cy="118872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2377440" cy="347472"/>
          </a:xfrm>
          <a:prstGeom prst="rect">
            <a:avLst/>
          </a:prstGeom>
          <a:solidFill>
            <a:srgbClr val="977498"/>
          </a:solidFill>
          <a:ln>
            <a:solidFill>
              <a:srgbClr val="97749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Behavioral Vectors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activity becomes weekly feature vectors: commits, contributors, dependency changes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143000"/>
            <a:ext cx="2560320" cy="1188720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216152"/>
            <a:ext cx="2377440" cy="347472"/>
          </a:xfrm>
          <a:prstGeom prst="rect">
            <a:avLst/>
          </a:prstGeom>
          <a:solidFill>
            <a:srgbClr val="977498"/>
          </a:solidFill>
          <a:ln>
            <a:solidFill>
              <a:srgbClr val="97749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Drift Detection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154680" y="1581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behavior vector compared against historical identity baseline to flag behavioral drift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2560320" cy="1188720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87752"/>
            <a:ext cx="2377440" cy="347472"/>
          </a:xfrm>
          <a:prstGeom prst="rect">
            <a:avLst/>
          </a:prstGeom>
          <a:solidFill>
            <a:srgbClr val="977498"/>
          </a:solidFill>
          <a:ln>
            <a:solidFill>
              <a:srgbClr val="97749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Investigation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953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investigates flagged drift using statistical evidence + commit context; fingerprints persist to Qdrant for retrieval-driven detection next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2514600"/>
            <a:ext cx="2560320" cy="1188720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587752"/>
            <a:ext cx="2377440" cy="347472"/>
          </a:xfrm>
          <a:prstGeom prst="rect">
            <a:avLst/>
          </a:prstGeom>
          <a:solidFill>
            <a:srgbClr val="977498"/>
          </a:solidFill>
          <a:ln>
            <a:solidFill>
              <a:srgbClr val="97749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Explainable Reports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54680" y="2953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reports with anomaly scores, built for security &amp; DevSecOps teams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1143000"/>
            <a:ext cx="3017520" cy="59436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143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Collect Repo Activity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6440" y="1737360"/>
            <a:ext cx="3017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6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2075688"/>
            <a:ext cx="3017520" cy="594360"/>
          </a:xfrm>
          <a:prstGeom prst="rect">
            <a:avLst/>
          </a:prstGeom>
          <a:solidFill>
            <a:srgbClr val="977498"/>
          </a:solidFill>
          <a:ln w="12700">
            <a:solidFill>
              <a:srgbClr val="9774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07568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Behavioral Vectors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06440" y="2670048"/>
            <a:ext cx="3017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6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06440" y="3008376"/>
            <a:ext cx="3017520" cy="59436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00837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Detect &amp; Investigate Drift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3602736"/>
            <a:ext cx="3017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89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06440" y="3941064"/>
            <a:ext cx="3017520" cy="59436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94106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Generate Explainable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868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3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ACC2D9AF-4009-4318-A4C6-E4B354DED0F7}"/>
              </a:ext>
            </a:extLst>
          </p:cNvPr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29" name="Rectangle 28"/>
          <p:cNvSpPr/>
          <p:nvPr/>
        </p:nvSpPr>
        <p:spPr>
          <a:xfrm>
            <a:off x="2286000" y="4922928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8"/>
            <a:ext cx="9144000" cy="684802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1" y="91440"/>
            <a:ext cx="680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9"/>
          <a:stretch/>
        </p:blipFill>
        <p:spPr>
          <a:xfrm>
            <a:off x="662608" y="843169"/>
            <a:ext cx="7818783" cy="39372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14" y="998"/>
            <a:ext cx="9122786" cy="684802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27257" y="81290"/>
            <a:ext cx="6784224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MVP, Security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694" y="948410"/>
            <a:ext cx="2736836" cy="1674078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60694" y="948410"/>
            <a:ext cx="2736836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60694" y="1044225"/>
            <a:ext cx="27368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🎯  Focused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464" y="1479130"/>
            <a:ext cx="250876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The MVP already proves the full loop end to end </a:t>
            </a:r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i.e.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collect,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vectori</a:t>
            </a:r>
            <a:r>
              <a:rPr lang="en-IN" sz="1200" dirty="0">
                <a:solidFill>
                  <a:srgbClr val="FFFFFF"/>
                </a:solidFill>
                <a:latin typeface="Calibri"/>
              </a:rPr>
              <a:t>z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e, detect, explain, remember  as a working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FastAPI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+ React product</a:t>
            </a:r>
            <a:r>
              <a:rPr lang="en-IN" sz="1200" dirty="0">
                <a:solidFill>
                  <a:srgbClr val="FFFFFF"/>
                </a:solidFill>
                <a:latin typeface="Calibri"/>
              </a:rPr>
              <a:t>.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29624" y="948410"/>
            <a:ext cx="2736836" cy="1674078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229624" y="948410"/>
            <a:ext cx="2736836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229624" y="1044225"/>
            <a:ext cx="27368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🔌  API-First &amp; 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394" y="1479130"/>
            <a:ext cx="2508766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Collector,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vectorizer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, detector, agent, and memory are independent modules behind one API, so any new activity source plugs into the same detection 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4317" y="958705"/>
            <a:ext cx="2736836" cy="1663783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164317" y="958705"/>
            <a:ext cx="2736836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164317" y="1054520"/>
            <a:ext cx="27368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🔒  Secure &amp; Compliant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087" y="1489425"/>
            <a:ext cx="2508766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Secrets via environment variables, scoped GitHub tokens, CORS allow-listing, and a no-LLM-key fallback path so nothing has to leave a customer's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928" y="2782694"/>
            <a:ext cx="4105254" cy="1979265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74464" y="2942144"/>
            <a:ext cx="392279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🛠  Guardrails Already Honored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738" y="3234089"/>
            <a:ext cx="383157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No proprietary lock-in </a:t>
            </a:r>
            <a:r>
              <a:rPr lang="en-IN" sz="1200" b="0" dirty="0">
                <a:solidFill>
                  <a:srgbClr val="FFFFFF"/>
                </a:solidFill>
                <a:latin typeface="Calibri"/>
              </a:rPr>
              <a:t>: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Claude, Gemini, and offline template are interchangeable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Fully automated pipeline </a:t>
            </a:r>
            <a:r>
              <a:rPr lang="en-IN" sz="1200" dirty="0">
                <a:solidFill>
                  <a:srgbClr val="FFFFFF"/>
                </a:solidFill>
                <a:latin typeface="Calibri"/>
              </a:rPr>
              <a:t>: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no manual step required to produce a report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Runs and is tested completely offline, so evaluation never needs live keys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2356" y="2770978"/>
            <a:ext cx="4105254" cy="198203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946882" y="2974074"/>
            <a:ext cx="392279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📋  Roadmap to Enterprise-Grade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7777" y="3242590"/>
            <a:ext cx="383157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SSO &amp; role-based access for multi-tenant deployments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Configurable data retention and residency per customer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SOC2-aligned logging and audit trail for compliance-sensitive buyers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" y="4937760"/>
            <a:ext cx="9122786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8"/>
            <a:ext cx="9144000" cy="684802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1" y="91440"/>
            <a:ext cx="680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88126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228600" y="788126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28600" y="788126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🛡️  Signature Scanners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318846"/>
            <a:ext cx="25146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 err="1">
                <a:solidFill>
                  <a:srgbClr val="FFFFFF"/>
                </a:solidFill>
                <a:latin typeface="Calibri"/>
              </a:rPr>
              <a:t>Dependabot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Snyk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&amp; GitHub Advanced Security match known CVEs and vulnerable packages </a:t>
            </a:r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they say nothing about unfamiliar behavior.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1830" y="788126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211830" y="788126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211830" y="788126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📉  Generic Anomaly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30" y="1318846"/>
            <a:ext cx="2514600" cy="1212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Point-in-time outlier detectors flag isolated spikes but never build a per-entity historical identity to compare against.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5060" y="788126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195060" y="788126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195060" y="788126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✅  BehaviorDrift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18846"/>
            <a:ext cx="2514600" cy="1212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Learns each entity's own rolling baseline, lets an ML model decide what's abnormal, and turns flagged weeks into a plain-English, evidence-backed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51760"/>
            <a:ext cx="4114800" cy="210312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08660" y="2766593"/>
            <a:ext cx="3931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 Why AI Is Actually Differentiating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73155"/>
            <a:ext cx="384048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Isolation Forest makes the flag / no-flag call </a:t>
            </a:r>
            <a:r>
              <a:rPr lang="en-IN" sz="1200" b="0" dirty="0">
                <a:solidFill>
                  <a:srgbClr val="FFFFFF"/>
                </a:solidFill>
                <a:latin typeface="Calibri"/>
              </a:rPr>
              <a:t>,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not a fixed threshold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Z-score layer explains which specific features drove the flag, and by how much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LLM agent reasons over real commit messages, not just numbers, to write the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651760"/>
            <a:ext cx="4114800" cy="210312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5052226" y="2766593"/>
            <a:ext cx="3931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 Moat &amp; Defensibility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634028"/>
            <a:ext cx="3840480" cy="204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Per-entity behavioral memory is architected to compound in value as retrieval-driven detection ships next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Modular pipeline extends to new activity sources without a rebuild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Explainable-by-construction output fits regulated, compliance-heavy buyers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2423160" y="4912668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8"/>
            <a:ext cx="9144000" cy="684802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1" y="91440"/>
            <a:ext cx="680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6242"/>
            <a:ext cx="2743200" cy="193583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65760" y="776242"/>
            <a:ext cx="2743200" cy="511902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65760" y="776242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🏢  Beyond eMudhra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" y="1306962"/>
            <a:ext cx="2514600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Any organization that manages digital trust, code supply chains, or compliance evidence </a:t>
            </a:r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ex,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CAs, MSSPs,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fintech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, SaaS platforms </a:t>
            </a:r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needs to know when normal behavior quietly changes, not just when a signature matches.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8990" y="776242"/>
            <a:ext cx="2743200" cy="193583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348990" y="776242"/>
            <a:ext cx="2743200" cy="511902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246120" y="769624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🌍  Cross-Industry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3290" y="1306962"/>
            <a:ext cx="2514600" cy="1212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The same behavioral-vector approach generalizes beyond GitHub commits to signing and authentication logs, CI/CD pipelines, access patterns, and vendor/API activity.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2220" y="776242"/>
            <a:ext cx="2743200" cy="193583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332220" y="776242"/>
            <a:ext cx="2743200" cy="511902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332220" y="776242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📈  A Growing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306962"/>
            <a:ext cx="2514600" cy="1212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Software-supply-chain security and explainable AI-risk monitoring are among the fastest-growing enterprise security budgets  and signature tools like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Dependabot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or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Snyk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structurally don't cover behavioral drift.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" y="2852746"/>
            <a:ext cx="4114800" cy="1902134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2911484"/>
            <a:ext cx="3931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🎯  Primary 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3840480" cy="204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Certificate authorities &amp; digital-trust providers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Security &amp;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DevSecOps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platform teams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Enterprise engineering organizations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Open-source foundations &amp; maintainers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849606"/>
            <a:ext cx="4114800" cy="1905273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800600" y="2950903"/>
            <a:ext cx="3931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🌐  Expansion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631087"/>
            <a:ext cx="3840480" cy="204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CI/CD pipelines &amp; cloud activity logs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Signing / authentication event streams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Vendor and third-party API risk monitoring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Any sequential, entity-level activity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2446020" y="4903464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8"/>
            <a:ext cx="9144000" cy="684802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1" y="91440"/>
            <a:ext cx="680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" y="782683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251460" y="782683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51460" y="782683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💳  Usage-Based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13403"/>
            <a:ext cx="2514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Priced per monitored entity (repo, signing endpoint, pipeline) per month </a:t>
            </a:r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scales naturally with a customer's footprint and lets teams start small.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4690" y="782683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234690" y="782683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234690" y="782683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🏷️  Subscription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8990" y="1313403"/>
            <a:ext cx="2514600" cy="1212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Starter / Team / Enterprise plans bundle entity limits, alert integrations, history retention, and support SLAs.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782683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217920" y="782683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217920" y="782683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🔐  Platform Licensing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1313403"/>
            <a:ext cx="2514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Annual API licensing for partners to embed drift intelligence directly inside existing trust and compliance products.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51760"/>
            <a:ext cx="4114800" cy="210312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71500" y="2736740"/>
            <a:ext cx="3931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💰  Cost to 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73155"/>
            <a:ext cx="384048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Rolling-baseline pipeline keeps compute low per entity, no retraining service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LLM calls fire only on flagged weeks, not every scan </a:t>
            </a:r>
            <a:r>
              <a:rPr lang="en-IN" sz="1200" b="0" dirty="0">
                <a:solidFill>
                  <a:srgbClr val="FFFFFF"/>
                </a:solidFill>
                <a:latin typeface="Calibri"/>
              </a:rPr>
              <a:t>and thus 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controls inference spend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Memory store (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Qdrant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or local JSON) scales linearly with entities tracked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651760"/>
            <a:ext cx="4114800" cy="210312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5097780" y="2736740"/>
            <a:ext cx="3931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300" b="1" i="0" dirty="0">
                <a:solidFill>
                  <a:srgbClr val="EA6E25"/>
                </a:solidFill>
                <a:latin typeface="Calibri"/>
              </a:rPr>
              <a:t>📊  Unit-Economics Levers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073155"/>
            <a:ext cx="384048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API-first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FastAPI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backend → low incremental infra</a:t>
            </a:r>
            <a:r>
              <a:rPr lang="en-IN" sz="1200" b="0" dirty="0">
                <a:solidFill>
                  <a:srgbClr val="FFFFFF"/>
                </a:solidFill>
                <a:latin typeface="Calibri"/>
              </a:rPr>
              <a:t>structure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cost per new customer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Claude → Gemini → template fallback chain protects margin if LLM costs spike</a:t>
            </a:r>
          </a:p>
          <a:p>
            <a:pPr marL="342900" indent="-342900" algn="l">
              <a:buFont typeface="Calibri" pitchFamily="34" charset="0"/>
              <a:buChar char="•"/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Entity-based tiers create natural expansion revenue over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2506152" y="4904320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8"/>
            <a:ext cx="9144000" cy="684802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1" y="91440"/>
            <a:ext cx="680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2800" b="1" i="0" dirty="0">
                <a:solidFill>
                  <a:srgbClr val="FFFFFF"/>
                </a:solidFill>
                <a:latin typeface="Calibri"/>
              </a:rPr>
              <a:t>Go-To-Market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41521" y="1117923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41521" y="1117923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41521" y="1117923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🧪 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821" y="1648643"/>
            <a:ext cx="2514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Pilot with eMudhra and 2–3 design-partner security/engineering teams against real repos and real incident history </a:t>
            </a:r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and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not just a scripted demo.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4751" y="1117923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224751" y="1117923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224751" y="1117923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🚀  Land &amp; 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9051" y="1648643"/>
            <a:ext cx="2514600" cy="1212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Self-serve, usage-based entry for open-source maintainers and small security teams; distribute through GitHub/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GitLab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marketplace listings.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981" y="1117923"/>
            <a:ext cx="2743200" cy="1772194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207981" y="1117923"/>
            <a:ext cx="2743200" cy="468630"/>
          </a:xfrm>
          <a:prstGeom prst="rect">
            <a:avLst/>
          </a:prstGeom>
          <a:solidFill>
            <a:srgbClr val="689947"/>
          </a:solidFill>
          <a:ln w="12700">
            <a:solidFill>
              <a:srgbClr val="689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207981" y="1117923"/>
            <a:ext cx="2743200" cy="468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🤝  Platform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2281" y="1648643"/>
            <a:ext cx="25146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Move design-partner accounts into paid enterprise tiers and license the engine for embedding inside </a:t>
            </a:r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enterprise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's trust and compliance suite.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521" y="3292328"/>
            <a:ext cx="84124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400" b="0" i="1" dirty="0">
                <a:solidFill>
                  <a:srgbClr val="6C3C8B"/>
                </a:solidFill>
                <a:latin typeface="Calibri"/>
              </a:rPr>
              <a:t>🔭  Future Scope: extend behavioral-drift detection beyond GitHub to CI/CD, cloud activity, signing/authentication logs, and vendor or API behavior </a:t>
            </a:r>
            <a:r>
              <a:rPr lang="en-IN" sz="1400" b="0" i="1" dirty="0">
                <a:solidFill>
                  <a:srgbClr val="6C3C8B"/>
                </a:solidFill>
                <a:latin typeface="Calibri"/>
              </a:rPr>
              <a:t>:</a:t>
            </a:r>
            <a:r>
              <a:rPr sz="1400" b="0" i="1" dirty="0">
                <a:solidFill>
                  <a:srgbClr val="6C3C8B"/>
                </a:solidFill>
                <a:latin typeface="Calibri"/>
              </a:rPr>
              <a:t> one generalizable trust layer instead of a one-off hackathon tool.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2358887" y="4922928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75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3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users &amp; future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37160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windows tracked per repository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43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with sequential activity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097280"/>
            <a:ext cx="2743200" cy="1371600"/>
          </a:xfrm>
          <a:prstGeom prst="rect">
            <a:avLst/>
          </a:prstGeom>
          <a:solidFill>
            <a:srgbClr val="EA6E25"/>
          </a:solidFill>
          <a:ln w="12700">
            <a:solidFill>
              <a:srgbClr val="EA6E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143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08076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collect, vectorize, detect, report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4114800" cy="2103120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24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6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Users</a:t>
            </a:r>
            <a:endParaRPr lang="en-US" sz="1300" dirty="0">
              <a:solidFill>
                <a:srgbClr val="EA6E25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DevSecOps teams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organizations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maintainers &amp; OSS-dependent orgs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14800" cy="2103120"/>
          </a:xfrm>
          <a:prstGeom prst="rect">
            <a:avLst/>
          </a:prstGeom>
          <a:solidFill>
            <a:srgbClr val="6C3C8B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724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6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Scope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3931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GitHub to CI/CD &amp; cloud activity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scoring for dependency trust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 &amp; integrations for security pipelines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6C3C8B"/>
          </a:solidFill>
          <a:ln w="12700">
            <a:solidFill>
              <a:srgbClr val="6C3C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BehaviorDrift  •  eMudhra Hackathon 2026  •  Bangalore Institute of  Technology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1297</Words>
  <Application>Microsoft Office PowerPoint</Application>
  <PresentationFormat>On-screen Show (16:9)</PresentationFormat>
  <Paragraphs>151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Numan Ulla Khan</cp:lastModifiedBy>
  <cp:revision>28</cp:revision>
  <dcterms:created xsi:type="dcterms:W3CDTF">2026-06-03T06:48:09Z</dcterms:created>
  <dcterms:modified xsi:type="dcterms:W3CDTF">2026-08-03T16:51:00Z</dcterms:modified>
</cp:coreProperties>
</file>